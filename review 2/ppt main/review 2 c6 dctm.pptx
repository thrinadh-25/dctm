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8" r:id="rId3"/>
    <p:sldId id="259" r:id="rId4"/>
    <p:sldId id="260" r:id="rId5"/>
    <p:sldId id="264" r:id="rId6"/>
    <p:sldId id="269" r:id="rId7"/>
    <p:sldId id="270" r:id="rId8"/>
    <p:sldId id="268" r:id="rId9"/>
    <p:sldId id="267" r:id="rId10"/>
    <p:sldId id="262" r:id="rId11"/>
  </p:sldIdLst>
  <p:sldSz cx="12192000" cy="6858000"/>
  <p:notesSz cx="9947275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87" autoAdjust="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798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A19F653-3395-1F97-850A-1849A5122E1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11461" cy="344173"/>
          </a:xfrm>
          <a:prstGeom prst="rect">
            <a:avLst/>
          </a:prstGeom>
        </p:spPr>
        <p:txBody>
          <a:bodyPr vert="horz" lIns="84189" tIns="42094" rIns="84189" bIns="42094" rtlCol="0"/>
          <a:lstStyle>
            <a:lvl1pPr algn="l">
              <a:defRPr sz="11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C9324C-D516-2E51-ECBE-DEB20B728D8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33727" y="0"/>
            <a:ext cx="4311461" cy="344173"/>
          </a:xfrm>
          <a:prstGeom prst="rect">
            <a:avLst/>
          </a:prstGeom>
        </p:spPr>
        <p:txBody>
          <a:bodyPr vert="horz" lIns="84189" tIns="42094" rIns="84189" bIns="42094" rtlCol="0"/>
          <a:lstStyle>
            <a:lvl1pPr algn="r">
              <a:defRPr sz="1100"/>
            </a:lvl1pPr>
          </a:lstStyle>
          <a:p>
            <a:fld id="{309E5C5E-9C69-4EE7-9BD2-DFD6F0FB67C6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1EC31C-46FC-02D1-67BA-520FFD01FE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827"/>
            <a:ext cx="4311461" cy="344173"/>
          </a:xfrm>
          <a:prstGeom prst="rect">
            <a:avLst/>
          </a:prstGeom>
        </p:spPr>
        <p:txBody>
          <a:bodyPr vert="horz" lIns="84189" tIns="42094" rIns="84189" bIns="42094" rtlCol="0" anchor="b"/>
          <a:lstStyle>
            <a:lvl1pPr algn="l">
              <a:defRPr sz="11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B5CFB7-B264-C5D1-845E-06583C8EE96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33727" y="6513827"/>
            <a:ext cx="4311461" cy="344173"/>
          </a:xfrm>
          <a:prstGeom prst="rect">
            <a:avLst/>
          </a:prstGeom>
        </p:spPr>
        <p:txBody>
          <a:bodyPr vert="horz" lIns="84189" tIns="42094" rIns="84189" bIns="42094" rtlCol="0" anchor="b"/>
          <a:lstStyle>
            <a:lvl1pPr algn="r">
              <a:defRPr sz="1100"/>
            </a:lvl1pPr>
          </a:lstStyle>
          <a:p>
            <a:fld id="{F51DA3E6-6681-4E66-AF81-595304A9F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052675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11461" cy="344173"/>
          </a:xfrm>
          <a:prstGeom prst="rect">
            <a:avLst/>
          </a:prstGeom>
        </p:spPr>
        <p:txBody>
          <a:bodyPr vert="horz" lIns="84189" tIns="42094" rIns="84189" bIns="42094" rtlCol="0"/>
          <a:lstStyle>
            <a:lvl1pPr algn="l">
              <a:defRPr sz="11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33727" y="0"/>
            <a:ext cx="4311461" cy="344173"/>
          </a:xfrm>
          <a:prstGeom prst="rect">
            <a:avLst/>
          </a:prstGeom>
        </p:spPr>
        <p:txBody>
          <a:bodyPr vert="horz" lIns="84189" tIns="42094" rIns="84189" bIns="42094" rtlCol="0"/>
          <a:lstStyle>
            <a:lvl1pPr algn="r">
              <a:defRPr sz="1100"/>
            </a:lvl1pPr>
          </a:lstStyle>
          <a:p>
            <a:fld id="{4CCAF8FD-FE3A-4B01-84F2-C627066ED069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16238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4189" tIns="42094" rIns="84189" bIns="42094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4310" y="3300190"/>
            <a:ext cx="7958655" cy="2700433"/>
          </a:xfrm>
          <a:prstGeom prst="rect">
            <a:avLst/>
          </a:prstGeom>
        </p:spPr>
        <p:txBody>
          <a:bodyPr vert="horz" lIns="84189" tIns="42094" rIns="84189" bIns="4209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827"/>
            <a:ext cx="4311461" cy="344173"/>
          </a:xfrm>
          <a:prstGeom prst="rect">
            <a:avLst/>
          </a:prstGeom>
        </p:spPr>
        <p:txBody>
          <a:bodyPr vert="horz" lIns="84189" tIns="42094" rIns="84189" bIns="42094" rtlCol="0" anchor="b"/>
          <a:lstStyle>
            <a:lvl1pPr algn="l">
              <a:defRPr sz="11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33727" y="6513827"/>
            <a:ext cx="4311461" cy="344173"/>
          </a:xfrm>
          <a:prstGeom prst="rect">
            <a:avLst/>
          </a:prstGeom>
        </p:spPr>
        <p:txBody>
          <a:bodyPr vert="horz" lIns="84189" tIns="42094" rIns="84189" bIns="42094" rtlCol="0" anchor="b"/>
          <a:lstStyle>
            <a:lvl1pPr algn="r">
              <a:defRPr sz="1100"/>
            </a:lvl1pPr>
          </a:lstStyle>
          <a:p>
            <a:fld id="{1B3989B1-4691-4647-AEB6-B1F469B8C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66358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Good morning, we are Team 06, CSE-C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Project: DCTM — Diffusion-Based Cyber Threat Modelling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I'm Neha, teammate is Thrinadh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Guide: Ms. Duddeda Aishwarya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93465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IDS = system that detects network attacks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DEMGAN (existing paper) = 97.42% evasion rate but 3 problems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problems: only 10 features, GAN unstable, ignores class imbalance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built DCTM → fixes all 3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DCTM uses: Diffusion model + SMOTE + 20 features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Tested on 2 datasets, measured with F1 + Precision + Recall too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4684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Networks face attacks: DDoS,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PortScan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SQL Injection etc.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IDS = ML model that labels traffic as Safe or Attack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Problem → attacker can craft fake "safe-looking" traffic → IDS gets fooled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called an evasion attack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need tools to test how easily IDS gets fooled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DEMGAN does this with GAN → we do it better with Diffusion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tool works both ways → attack IDS AND strengthen it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4412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Gaps (what's wrong with DEMGAN):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 10 features used → too limited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GAN is unstable → bad on Decision Tree and Logistic Regression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Rare attacks ignored → Heartbleed has only 11 samples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 evasion rate measured → no F1, Precision, Recall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fix: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Replace GAN → Diffusion model (stable)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 → 20 features using MI + SHAP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SMOTE → fixes class imbalance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 F1, Precision, Recall to evaluation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13736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Start: raw CSV files (CICIDS2017 dataset)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1: clean data → remove bad rows → normalize to 0-1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2: pick top 20 features using MI + SHAP combined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3: SMOTE → balance rare attack classes → train 10 IDS models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4: train Diffusion model per attack class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5: generate adversarial samples → test on IDS → measure evasion rate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End: retrain IDS with adversarial data → IDS becomes stronger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06916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04213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CICIDS2017: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2.83 million samples, 79 features, 14 attack types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 training + evaluation dataset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 dataset used in DEMGAN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CICIDS2018: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2M+ samples, 4 attack types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 for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generalisation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testing → never used in training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74895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DEMGAN 2025 → base paper we are improving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Wasserstein GAN 2017 → what DEMGAN was built on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SMOTE 2002 → for class balancing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CICIDS dataset paper → dataset we used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5260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3760" cy="56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2389680" y="612720"/>
            <a:ext cx="7313760" cy="4113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3760" cy="80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1"/>
          </p:nvPr>
        </p:nvSpPr>
        <p:spPr>
          <a:xfrm>
            <a:off x="60948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2"/>
          </p:nvPr>
        </p:nvSpPr>
        <p:spPr>
          <a:xfrm>
            <a:off x="4165560" y="6356520"/>
            <a:ext cx="38592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3"/>
          </p:nvPr>
        </p:nvSpPr>
        <p:spPr>
          <a:xfrm>
            <a:off x="873756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939E289-1375-481B-85D2-29C48C40EA7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13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1360" cy="4524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60948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165560" y="6356520"/>
            <a:ext cx="38592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73756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883C5E2-F005-44A6-9D71-49A8D860A62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1491560" y="274680"/>
            <a:ext cx="3565080" cy="585000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791640" y="274680"/>
            <a:ext cx="10495080" cy="585000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60948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165560" y="6356520"/>
            <a:ext cx="38592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73756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9D7FB26-056C-45C6-A958-CA9ED448235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13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136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60948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4165560" y="6356520"/>
            <a:ext cx="38592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873756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118F6E7-F1DC-4F9F-A55D-F4F9EDAF986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13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136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60948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4165560" y="6356520"/>
            <a:ext cx="38592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873756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441B8D5-F4CD-4C0C-B114-ECCA4F6EF5C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13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136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60948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4165560" y="6356520"/>
            <a:ext cx="38592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873756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65A6321-19C7-4558-A451-72DF1045898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1880" cy="136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1880" cy="149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228600"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9"/>
          </p:nvPr>
        </p:nvSpPr>
        <p:spPr>
          <a:xfrm>
            <a:off x="60948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20"/>
          </p:nvPr>
        </p:nvSpPr>
        <p:spPr>
          <a:xfrm>
            <a:off x="4165560" y="6356520"/>
            <a:ext cx="38592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21"/>
          </p:nvPr>
        </p:nvSpPr>
        <p:spPr>
          <a:xfrm>
            <a:off x="873756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E0F9BCE-452A-4C24-9FCB-3DE23D3510D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13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791640" y="1600200"/>
            <a:ext cx="703008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8026200" y="1600200"/>
            <a:ext cx="703008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22"/>
          </p:nvPr>
        </p:nvSpPr>
        <p:spPr>
          <a:xfrm>
            <a:off x="60948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ftr" idx="23"/>
          </p:nvPr>
        </p:nvSpPr>
        <p:spPr>
          <a:xfrm>
            <a:off x="4165560" y="6356520"/>
            <a:ext cx="38592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sldNum" idx="24"/>
          </p:nvPr>
        </p:nvSpPr>
        <p:spPr>
          <a:xfrm>
            <a:off x="873756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C44B9CA-2ECA-4C80-9310-4ED96D682A1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13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535040"/>
            <a:ext cx="5385600" cy="63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228600"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609480" y="2174760"/>
            <a:ext cx="5385600" cy="394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6193440" y="1535040"/>
            <a:ext cx="5387400" cy="63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marL="228600"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193440" y="2174760"/>
            <a:ext cx="5387400" cy="394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dt" idx="25"/>
          </p:nvPr>
        </p:nvSpPr>
        <p:spPr>
          <a:xfrm>
            <a:off x="60948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7"/>
          <p:cNvSpPr>
            <a:spLocks noGrp="1"/>
          </p:cNvSpPr>
          <p:nvPr>
            <p:ph type="ftr" idx="26"/>
          </p:nvPr>
        </p:nvSpPr>
        <p:spPr>
          <a:xfrm>
            <a:off x="4165560" y="6356520"/>
            <a:ext cx="38592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8"/>
          <p:cNvSpPr>
            <a:spLocks noGrp="1"/>
          </p:cNvSpPr>
          <p:nvPr>
            <p:ph type="sldNum" idx="27"/>
          </p:nvPr>
        </p:nvSpPr>
        <p:spPr>
          <a:xfrm>
            <a:off x="873756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64FFF37-A298-45A3-9C4C-4B6B6AC277E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13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dt" idx="28"/>
          </p:nvPr>
        </p:nvSpPr>
        <p:spPr>
          <a:xfrm>
            <a:off x="60948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9"/>
          </p:nvPr>
        </p:nvSpPr>
        <p:spPr>
          <a:xfrm>
            <a:off x="4165560" y="6356520"/>
            <a:ext cx="38592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30"/>
          </p:nvPr>
        </p:nvSpPr>
        <p:spPr>
          <a:xfrm>
            <a:off x="873756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DA51188-2F05-4E86-AE49-260217B3B9A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914760" y="2130480"/>
            <a:ext cx="10361880" cy="146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dt" idx="31"/>
          </p:nvPr>
        </p:nvSpPr>
        <p:spPr>
          <a:xfrm>
            <a:off x="60948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ftr" idx="32"/>
          </p:nvPr>
        </p:nvSpPr>
        <p:spPr>
          <a:xfrm>
            <a:off x="4165560" y="6356520"/>
            <a:ext cx="38592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sldNum" idx="33"/>
          </p:nvPr>
        </p:nvSpPr>
        <p:spPr>
          <a:xfrm>
            <a:off x="873756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6EE30C8-19C8-4BCC-8CB2-0008C34B499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dt" idx="34"/>
          </p:nvPr>
        </p:nvSpPr>
        <p:spPr>
          <a:xfrm>
            <a:off x="60948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ftr" idx="35"/>
          </p:nvPr>
        </p:nvSpPr>
        <p:spPr>
          <a:xfrm>
            <a:off x="4165560" y="6356520"/>
            <a:ext cx="38592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sldNum" idx="36"/>
          </p:nvPr>
        </p:nvSpPr>
        <p:spPr>
          <a:xfrm>
            <a:off x="873756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0EB6238-534F-44DF-976F-B9A8741983D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09680" cy="116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766760" y="272880"/>
            <a:ext cx="6814080" cy="585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609480" y="1434960"/>
            <a:ext cx="4009680" cy="468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37"/>
          </p:nvPr>
        </p:nvSpPr>
        <p:spPr>
          <a:xfrm>
            <a:off x="60948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38"/>
          </p:nvPr>
        </p:nvSpPr>
        <p:spPr>
          <a:xfrm>
            <a:off x="4165560" y="6356520"/>
            <a:ext cx="385920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9"/>
          </p:nvPr>
        </p:nvSpPr>
        <p:spPr>
          <a:xfrm>
            <a:off x="8737560" y="6356520"/>
            <a:ext cx="28436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9D6990C-C1BE-4A76-AC3C-610EF6F0518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arch(main).pdf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209600" y="122760"/>
            <a:ext cx="10102680" cy="1265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anchorCtr="1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KESHAV MEMORIAL ENGINEERING COLLEGE</a:t>
            </a:r>
            <a:br>
              <a:rPr sz="3200" dirty="0"/>
            </a:br>
            <a:r>
              <a:rPr lang="en-US" sz="20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A unit of Keshav Memorial Technical Educational Society (KMTES)</a:t>
            </a:r>
            <a:r>
              <a:rPr lang="en-US" sz="105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 </a:t>
            </a:r>
            <a:br>
              <a:rPr sz="1050" dirty="0"/>
            </a:br>
            <a:r>
              <a:rPr lang="en-US" sz="1600" b="1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(Approved by AICTE, New Delhi &amp; Affiliated to Osmania University, Hyderabad)</a:t>
            </a: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subTitle"/>
          </p:nvPr>
        </p:nvSpPr>
        <p:spPr>
          <a:xfrm>
            <a:off x="313920" y="1541520"/>
            <a:ext cx="11661120" cy="5243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anchorCtr="1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283"/>
              </a:spcBef>
              <a:buNone/>
              <a:tabLst>
                <a:tab pos="0" algn="l"/>
              </a:tabLst>
            </a:pPr>
            <a:r>
              <a:rPr lang="en-US" sz="2800" b="1" u="none" strike="noStrike" dirty="0">
                <a:solidFill>
                  <a:srgbClr val="780373"/>
                </a:solidFill>
                <a:effectLst/>
                <a:uFillTx/>
                <a:latin typeface="Times New Roman"/>
              </a:rPr>
              <a:t>DEPARTMENT OF COMPUTER SCIENCE &amp; ENGINEERING</a:t>
            </a:r>
            <a:endParaRPr lang="en-IN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283"/>
              </a:spcBef>
              <a:buNone/>
              <a:tabLst>
                <a:tab pos="0" algn="l"/>
              </a:tabLst>
            </a:pPr>
            <a:r>
              <a:rPr lang="en-IN" sz="20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(CSE – C)</a:t>
            </a:r>
            <a:endParaRPr lang="en-IN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283"/>
              </a:spcBef>
              <a:buNone/>
              <a:tabLst>
                <a:tab pos="0" algn="l"/>
              </a:tabLst>
            </a:pPr>
            <a:r>
              <a:rPr lang="en-US" sz="2800" b="1" u="none" strike="noStrike" dirty="0">
                <a:solidFill>
                  <a:srgbClr val="FF0000"/>
                </a:solidFill>
                <a:effectLst/>
                <a:uFillTx/>
                <a:latin typeface="Times New Roman"/>
              </a:rPr>
              <a:t>Mini Project Presentation on</a:t>
            </a:r>
            <a:endParaRPr lang="en-IN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283"/>
              </a:spcBef>
              <a:buNone/>
              <a:tabLst>
                <a:tab pos="0" algn="l"/>
              </a:tabLst>
            </a:pPr>
            <a:endParaRPr lang="en-IN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283"/>
              </a:spcBef>
              <a:tabLst>
                <a:tab pos="0" algn="l"/>
              </a:tabLst>
            </a:pPr>
            <a:r>
              <a:rPr lang="en-US" sz="2800" b="1" dirty="0">
                <a:latin typeface="Times New Roman"/>
              </a:rPr>
              <a:t>DCTM: Diffusion-Based Cyber Threat Modelling for Improved Intrusion Detection Performance</a:t>
            </a:r>
          </a:p>
          <a:p>
            <a:pPr algn="ctr">
              <a:spcBef>
                <a:spcPts val="283"/>
              </a:spcBef>
              <a:tabLst>
                <a:tab pos="0" algn="l"/>
              </a:tabLst>
            </a:pPr>
            <a:r>
              <a:rPr lang="en-US" sz="2800" b="1" u="none" strike="noStrike" dirty="0">
                <a:solidFill>
                  <a:srgbClr val="FF0000"/>
                </a:solidFill>
                <a:effectLst/>
                <a:uFillTx/>
                <a:latin typeface="Times New Roman"/>
              </a:rPr>
              <a:t>by</a:t>
            </a:r>
            <a:endParaRPr lang="en-IN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283"/>
              </a:spcBef>
              <a:buNone/>
              <a:tabLst>
                <a:tab pos="0" algn="l"/>
              </a:tabLst>
            </a:pPr>
            <a:r>
              <a:rPr lang="en-US" sz="2400" b="1" dirty="0">
                <a:solidFill>
                  <a:schemeClr val="dk1"/>
                </a:solidFill>
                <a:latin typeface="Times New Roman"/>
              </a:rPr>
              <a:t>Kasturi Vishnu Vardhan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– 245523733160</a:t>
            </a: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283"/>
              </a:spcBef>
              <a:tabLst>
                <a:tab pos="0" algn="l"/>
              </a:tabLst>
            </a:pP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</a:rPr>
              <a:t>Kukunuru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 Thrinadh Reddy –</a:t>
            </a:r>
            <a:r>
              <a:rPr lang="en-US" sz="2400" b="1" dirty="0">
                <a:solidFill>
                  <a:schemeClr val="dk1"/>
                </a:solidFill>
                <a:latin typeface="Times New Roman"/>
              </a:rPr>
              <a:t>245523733163</a:t>
            </a:r>
          </a:p>
          <a:p>
            <a:pPr algn="ctr">
              <a:spcBef>
                <a:spcPts val="283"/>
              </a:spcBef>
              <a:tabLst>
                <a:tab pos="0" algn="l"/>
              </a:tabLst>
            </a:pPr>
            <a:r>
              <a:rPr lang="en-US" sz="2400" b="1" dirty="0">
                <a:solidFill>
                  <a:schemeClr val="dk1"/>
                </a:solidFill>
                <a:latin typeface="Times New Roman"/>
              </a:rPr>
              <a:t>Neha Sri </a:t>
            </a:r>
            <a:r>
              <a:rPr lang="en-US" sz="2400" b="1" dirty="0" err="1">
                <a:solidFill>
                  <a:schemeClr val="dk1"/>
                </a:solidFill>
                <a:latin typeface="Times New Roman"/>
              </a:rPr>
              <a:t>Tirunagari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 –</a:t>
            </a:r>
            <a:r>
              <a:rPr lang="en-US" sz="2400" b="1" dirty="0">
                <a:solidFill>
                  <a:schemeClr val="dk1"/>
                </a:solidFill>
                <a:latin typeface="Times New Roman"/>
              </a:rPr>
              <a:t> 245523733187</a:t>
            </a: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561"/>
              </a:spcBef>
              <a:buNone/>
              <a:tabLst>
                <a:tab pos="0" algn="l"/>
              </a:tabLst>
            </a:pPr>
            <a:endParaRPr lang="en-IN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Guide:</a:t>
            </a: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561"/>
              </a:spcBef>
              <a:tabLst>
                <a:tab pos="0" algn="l"/>
              </a:tabLst>
            </a:pP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Duddeda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Aishwarya </a:t>
            </a:r>
            <a:endParaRPr lang="en-IN" sz="24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ctr" defTabSz="914400">
              <a:lnSpc>
                <a:spcPct val="9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  <a:endParaRPr lang="en-IN" sz="11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7" name="Picture 64"/>
          <p:cNvPicPr/>
          <p:nvPr/>
        </p:nvPicPr>
        <p:blipFill>
          <a:blip r:embed="rId3"/>
          <a:stretch/>
        </p:blipFill>
        <p:spPr>
          <a:xfrm>
            <a:off x="762120" y="213840"/>
            <a:ext cx="725040" cy="55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Straight Connector 65"/>
          <p:cNvSpPr/>
          <p:nvPr/>
        </p:nvSpPr>
        <p:spPr>
          <a:xfrm>
            <a:off x="152280" y="1440000"/>
            <a:ext cx="118872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5000" rIns="90000" bIns="-45000" anchor="ctr">
            <a:noAutofit/>
          </a:bodyPr>
          <a:lstStyle/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4CEE6C-9A19-D1CC-036C-D4CD91252089}"/>
              </a:ext>
            </a:extLst>
          </p:cNvPr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6EE30C8-19C8-4BCC-8CB2-0008C34B4990}" type="slidenum">
              <a:rPr lang="en-US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42520" y="609120"/>
            <a:ext cx="10697040" cy="70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 dirty="0">
                <a:solidFill>
                  <a:srgbClr val="780373"/>
                </a:solidFill>
                <a:effectLst/>
                <a:uFillTx/>
                <a:latin typeface="Times New Roman"/>
              </a:rPr>
              <a:t>Index</a:t>
            </a:r>
            <a:endParaRPr lang="en-IN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1"/>
          <p:cNvSpPr/>
          <p:nvPr/>
        </p:nvSpPr>
        <p:spPr>
          <a:xfrm>
            <a:off x="115200" y="118440"/>
            <a:ext cx="11960640" cy="33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Batch No.  </a:t>
            </a:r>
            <a:r>
              <a:rPr lang="en-US" sz="1600" dirty="0">
                <a:solidFill>
                  <a:schemeClr val="dk1"/>
                </a:solidFill>
                <a:latin typeface="Times New Roman"/>
              </a:rPr>
              <a:t>C6</a:t>
            </a: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         								</a:t>
            </a:r>
            <a:r>
              <a:rPr lang="en-US" sz="1600" b="1" dirty="0">
                <a:latin typeface="Times New Roman"/>
              </a:rPr>
              <a:t>                                           	  DCTM</a:t>
            </a: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9EB545-A253-B60B-F275-5996C5CC74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118F6E7-F1DC-4F9F-A55D-F4F9EDAF9867}" type="slidenum">
              <a:rPr lang="en-US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CE3157-6B74-642F-B046-15E73CFF9577}"/>
              </a:ext>
            </a:extLst>
          </p:cNvPr>
          <p:cNvSpPr txBox="1"/>
          <p:nvPr/>
        </p:nvSpPr>
        <p:spPr>
          <a:xfrm>
            <a:off x="1272508" y="1464359"/>
            <a:ext cx="9646024" cy="3495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95575" indent="-225425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dirty="0">
                <a:solidFill>
                  <a:schemeClr val="dk1"/>
                </a:solidFill>
                <a:latin typeface="Times New Roman"/>
              </a:rPr>
              <a:t>	</a:t>
            </a:r>
            <a:endParaRPr lang="en-IN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algn="just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US" sz="2400" dirty="0">
                <a:solidFill>
                  <a:schemeClr val="dk1"/>
                </a:solidFill>
                <a:latin typeface="Times New Roman"/>
              </a:rPr>
              <a:t>Abstract</a:t>
            </a:r>
          </a:p>
          <a:p>
            <a:pPr marL="457200" indent="-457200" algn="just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Introduction		</a:t>
            </a:r>
            <a:endParaRPr lang="en-US" sz="2400" dirty="0">
              <a:solidFill>
                <a:schemeClr val="dk1"/>
              </a:solidFill>
              <a:latin typeface="Times New Roman"/>
            </a:endParaRPr>
          </a:p>
          <a:p>
            <a:pPr marL="457200" indent="-457200" algn="just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Problem Statement</a:t>
            </a:r>
            <a:r>
              <a:rPr lang="en-US" sz="2400" dirty="0">
                <a:solidFill>
                  <a:schemeClr val="dk1"/>
                </a:solidFill>
                <a:latin typeface="Times New Roman"/>
              </a:rPr>
              <a:t> </a:t>
            </a:r>
            <a:endParaRPr lang="en-US" sz="2400" b="0" u="none" strike="noStrike" dirty="0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457200" indent="-457200" algn="just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US" sz="2400" dirty="0">
                <a:solidFill>
                  <a:schemeClr val="dk1"/>
                </a:solidFill>
                <a:latin typeface="Times New Roman"/>
              </a:rPr>
              <a:t>Workflow</a:t>
            </a:r>
          </a:p>
          <a:p>
            <a:pPr marL="457200" indent="-457200" algn="just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US" sz="2400" dirty="0">
                <a:solidFill>
                  <a:schemeClr val="dk1"/>
                </a:solidFill>
                <a:latin typeface="Times New Roman"/>
              </a:rPr>
              <a:t>Architecture </a:t>
            </a:r>
            <a:r>
              <a:rPr lang="en-US" sz="24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	</a:t>
            </a:r>
          </a:p>
          <a:p>
            <a:pPr marL="457200" indent="-457200" algn="just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US" sz="2400" dirty="0">
                <a:solidFill>
                  <a:schemeClr val="dk1"/>
                </a:solidFill>
                <a:latin typeface="Times New Roman"/>
              </a:rPr>
              <a:t>Dataset</a:t>
            </a:r>
          </a:p>
          <a:p>
            <a:pPr marL="457200" indent="-457200" algn="just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US" sz="2400" dirty="0">
                <a:solidFill>
                  <a:schemeClr val="dk1"/>
                </a:solidFill>
                <a:latin typeface="Times New Roman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746640" y="274680"/>
            <a:ext cx="1069704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 dirty="0">
                <a:solidFill>
                  <a:srgbClr val="780373"/>
                </a:solidFill>
                <a:effectLst/>
                <a:uFillTx/>
                <a:latin typeface="Times New Roman"/>
              </a:rPr>
              <a:t>1.Abstract</a:t>
            </a:r>
            <a:endParaRPr lang="en-IN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ubTitle"/>
          </p:nvPr>
        </p:nvSpPr>
        <p:spPr>
          <a:xfrm>
            <a:off x="746640" y="1600200"/>
            <a:ext cx="10879560" cy="432118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learning-based Network Intrusion Detection Systems (IDS) remain highly vulnerable to adversarial traffic. While frameworks like DEMGAN utilize multi-generator Wasserstein GANs to achieve an average evasion rate of 97.42% on the CICIDS2017 dataset, they face three critical limitations: a restrictive feature set (limited to 10 features via Mutual Information), GAN-based instability that fails to generalize against linear classifiers, and severe class imbalance.</a:t>
            </a:r>
          </a:p>
          <a:p>
            <a:pPr algn="just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propose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DCTM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A Tabular Diffusion-based Adversarial Framework -introducing: (1) a Transformer-based Denoising Diffusion Model for stable generation, (2) SMOTE for class imbalance mitigation, and (3) MI + SHAP feature selection expanding to 20 attributes.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on CICIDS2017 and CICIDS2018 with metrics: Evasion Rate, F1, Precision, and Recall.</a:t>
            </a:r>
          </a:p>
          <a:p>
            <a:pPr algn="just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Keywords: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Adversarial Examples, Network IDS, Tabular Diffusion, Transformer, Feature Selection, SMOTE, CICIDS2017</a:t>
            </a:r>
          </a:p>
        </p:txBody>
      </p:sp>
      <p:sp>
        <p:nvSpPr>
          <p:cNvPr id="87" name="PlaceHolder 1"/>
          <p:cNvSpPr/>
          <p:nvPr/>
        </p:nvSpPr>
        <p:spPr>
          <a:xfrm>
            <a:off x="115200" y="118440"/>
            <a:ext cx="11960640" cy="33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Batch No. C6          										     	</a:t>
            </a:r>
            <a:r>
              <a:rPr lang="en-US" sz="1600" b="1" dirty="0">
                <a:latin typeface="Times New Roman"/>
              </a:rPr>
              <a:t>DCTM</a:t>
            </a: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8C457D-B289-E7A0-178A-A9998FDC68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118F6E7-F1DC-4F9F-A55D-F4F9EDAF9867}" type="slidenum">
              <a:rPr lang="en-US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IN" sz="12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746640" y="274680"/>
            <a:ext cx="1069704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dirty="0">
                <a:solidFill>
                  <a:srgbClr val="780373"/>
                </a:solidFill>
                <a:latin typeface="Times New Roman"/>
              </a:rPr>
              <a:t>2</a:t>
            </a:r>
            <a:r>
              <a:rPr lang="en-US" sz="3600" b="1" u="none" strike="noStrike" dirty="0">
                <a:solidFill>
                  <a:srgbClr val="780373"/>
                </a:solidFill>
                <a:effectLst/>
                <a:uFillTx/>
                <a:latin typeface="Times New Roman"/>
              </a:rPr>
              <a:t>. Introduction</a:t>
            </a:r>
            <a:endParaRPr lang="en-IN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1"/>
          <p:cNvSpPr/>
          <p:nvPr/>
        </p:nvSpPr>
        <p:spPr>
          <a:xfrm>
            <a:off x="115200" y="118440"/>
            <a:ext cx="11960640" cy="33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Batch No. C6       										 	 </a:t>
            </a:r>
            <a:r>
              <a:rPr lang="en-US" sz="1600" b="1" dirty="0">
                <a:latin typeface="Times New Roman"/>
              </a:rPr>
              <a:t>DCTM</a:t>
            </a: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BFD1A7-027C-5FE8-1FA5-60B054BACE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118F6E7-F1DC-4F9F-A55D-F4F9EDAF9867}" type="slidenum">
              <a:rPr lang="en-US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4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20C7156-1079-E139-71F3-56C0B9D72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9B99D6-D54F-190D-924A-34C0D877168E}"/>
              </a:ext>
            </a:extLst>
          </p:cNvPr>
          <p:cNvSpPr txBox="1"/>
          <p:nvPr/>
        </p:nvSpPr>
        <p:spPr>
          <a:xfrm>
            <a:off x="533160" y="1479930"/>
            <a:ext cx="11124000" cy="4304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networks face constant threats: DDoS,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PortScan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SQL Injection, Brute Force, Botnets.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ML-based Intrusion Detection Systems (IDS) classify network flows as Benign or Malicious.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IDS models (DT, RF, MLP, CNN, etc.) perform well on benchmark datasets.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ML models are NOT robust to adversarial inputs - crafted samples that fool the classifier.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Adversarial Traffic: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 malicious flow modified so the IDS labels it as "Benign" — this is an evasion attack.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IDS robustness, security teams need adversarial generators.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DEMGAN (CMC, 2025)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the current state-of-the-art generator — uses Wasserstein GAN.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DCTM improves on DEMGAN using Diffusion Models — more stable, more comprehensive.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Dual-use: DCTM is both an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tool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(evasion) and a 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defense tool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(adversarial retraining).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734E9-9535-5731-AA10-6906965C8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>
            <a:extLst>
              <a:ext uri="{FF2B5EF4-FFF2-40B4-BE49-F238E27FC236}">
                <a16:creationId xmlns:a16="http://schemas.microsoft.com/office/drawing/2014/main" id="{201A57B7-9925-AB0F-3550-061504AB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640" y="274680"/>
            <a:ext cx="1069704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1" dirty="0">
                <a:solidFill>
                  <a:srgbClr val="780373"/>
                </a:solidFill>
                <a:latin typeface="Times New Roman"/>
              </a:rPr>
              <a:t>3.Problem Statement</a:t>
            </a:r>
            <a:endParaRPr lang="en-IN" sz="36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1">
            <a:extLst>
              <a:ext uri="{FF2B5EF4-FFF2-40B4-BE49-F238E27FC236}">
                <a16:creationId xmlns:a16="http://schemas.microsoft.com/office/drawing/2014/main" id="{0E21D4F7-DEC8-345A-E56E-5424B5ED87F0}"/>
              </a:ext>
            </a:extLst>
          </p:cNvPr>
          <p:cNvSpPr/>
          <p:nvPr/>
        </p:nvSpPr>
        <p:spPr>
          <a:xfrm>
            <a:off x="115200" y="118440"/>
            <a:ext cx="11960640" cy="33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Batch No. C6       										</a:t>
            </a:r>
            <a:r>
              <a:rPr lang="en-US" sz="1600" b="1" dirty="0">
                <a:latin typeface="Times New Roman"/>
              </a:rPr>
              <a:t> 	DCTM</a:t>
            </a: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78FCA-8579-0342-D404-4F07E99F8E0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737560" y="6365947"/>
            <a:ext cx="2843640" cy="363600"/>
          </a:xfrm>
        </p:spPr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118F6E7-F1DC-4F9F-A55D-F4F9EDAF9867}" type="slidenum">
              <a:rPr lang="en-US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5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AE4D4BE-1F44-413B-9C7B-500A71A33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1D7E28-7841-89BF-43AA-E9427850EAFC}"/>
              </a:ext>
            </a:extLst>
          </p:cNvPr>
          <p:cNvSpPr txBox="1"/>
          <p:nvPr/>
        </p:nvSpPr>
        <p:spPr>
          <a:xfrm>
            <a:off x="942695" y="1572480"/>
            <a:ext cx="1030492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Gaps in Existing Work: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ML-based IDS vulnerable to adversarial traffic — core threat unresolved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DEMGAN limited to 10 features — 69+ informative features ignored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 training instability produces low-quality adversarial samples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 collapse reduces diversity of generated attack traffic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imbalance in dataset ignored — rare attacks underrepresented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limited to evasion rate — no F1, Precision, or Recall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Solution: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GAN with Tabular Diffusion Model — eliminates instability and mode collapse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feature selection to 20 using MI, SHAP.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SMOTE to handle class imbalance before model training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evaluation to F1-score, Precision, and Recall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877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44993-60C9-21F8-6ACA-7B2B649AA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>
            <a:extLst>
              <a:ext uri="{FF2B5EF4-FFF2-40B4-BE49-F238E27FC236}">
                <a16:creationId xmlns:a16="http://schemas.microsoft.com/office/drawing/2014/main" id="{9F3A8961-7312-0219-E3D2-81A486DD6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640" y="274680"/>
            <a:ext cx="1069704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1" dirty="0">
                <a:solidFill>
                  <a:srgbClr val="780373"/>
                </a:solidFill>
                <a:latin typeface="Times New Roman"/>
              </a:rPr>
              <a:t>4.Workflow</a:t>
            </a:r>
            <a:endParaRPr lang="en-IN" sz="36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1">
            <a:extLst>
              <a:ext uri="{FF2B5EF4-FFF2-40B4-BE49-F238E27FC236}">
                <a16:creationId xmlns:a16="http://schemas.microsoft.com/office/drawing/2014/main" id="{25D78CAC-3B5D-6940-9D65-008048FA140B}"/>
              </a:ext>
            </a:extLst>
          </p:cNvPr>
          <p:cNvSpPr/>
          <p:nvPr/>
        </p:nvSpPr>
        <p:spPr>
          <a:xfrm>
            <a:off x="115200" y="118440"/>
            <a:ext cx="11960640" cy="33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Batch No. C6       										</a:t>
            </a:r>
            <a:r>
              <a:rPr lang="en-US" sz="1600" b="1" dirty="0">
                <a:latin typeface="Times New Roman"/>
              </a:rPr>
              <a:t> 	DCTM</a:t>
            </a: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D46D7A-5CE3-4BE8-D10A-E35D6F5A84C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737560" y="6365947"/>
            <a:ext cx="2843640" cy="363600"/>
          </a:xfrm>
        </p:spPr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118F6E7-F1DC-4F9F-A55D-F4F9EDAF9867}" type="slidenum">
              <a:rPr lang="en-US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6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23AEAC7-48FA-1964-AB98-DA88EF96D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AC8CA1-8710-94FF-AAE1-6547D70801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424" y="1190858"/>
            <a:ext cx="9716901" cy="52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097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8417D-3A4E-035F-55CF-395586F09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>
            <a:extLst>
              <a:ext uri="{FF2B5EF4-FFF2-40B4-BE49-F238E27FC236}">
                <a16:creationId xmlns:a16="http://schemas.microsoft.com/office/drawing/2014/main" id="{9645E2F2-6BB2-61C0-FCC2-6DD0F60D7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640" y="274680"/>
            <a:ext cx="1069704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1" dirty="0">
                <a:solidFill>
                  <a:srgbClr val="780373"/>
                </a:solidFill>
                <a:latin typeface="Times New Roman"/>
              </a:rPr>
              <a:t>5. Architecture</a:t>
            </a:r>
            <a:endParaRPr lang="en-IN" sz="36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1">
            <a:extLst>
              <a:ext uri="{FF2B5EF4-FFF2-40B4-BE49-F238E27FC236}">
                <a16:creationId xmlns:a16="http://schemas.microsoft.com/office/drawing/2014/main" id="{2C7B281B-0D8D-C9DC-59A6-5206DB2B7594}"/>
              </a:ext>
            </a:extLst>
          </p:cNvPr>
          <p:cNvSpPr/>
          <p:nvPr/>
        </p:nvSpPr>
        <p:spPr>
          <a:xfrm>
            <a:off x="115200" y="118440"/>
            <a:ext cx="11960640" cy="33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Batch No. C6       										</a:t>
            </a:r>
            <a:r>
              <a:rPr lang="en-US" sz="1600" b="1" dirty="0">
                <a:latin typeface="Times New Roman"/>
              </a:rPr>
              <a:t> 	DCTM</a:t>
            </a: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88130E-C615-0ECA-29B9-B65CD1AA5DE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737560" y="6365947"/>
            <a:ext cx="2843640" cy="363600"/>
          </a:xfrm>
        </p:spPr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118F6E7-F1DC-4F9F-A55D-F4F9EDAF9867}" type="slidenum">
              <a:rPr lang="en-US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FD1DC56-FF58-10C5-EC51-CFC5EE49F6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BA33E1-0E8F-ED74-81BB-99F6A071CFF4}"/>
              </a:ext>
            </a:extLst>
          </p:cNvPr>
          <p:cNvSpPr txBox="1"/>
          <p:nvPr/>
        </p:nvSpPr>
        <p:spPr>
          <a:xfrm>
            <a:off x="5378617" y="2562721"/>
            <a:ext cx="143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80373"/>
                </a:solidFill>
                <a:latin typeface="Times New Roman"/>
                <a:hlinkClick r:id="rId3" action="ppaction://hlinkfile"/>
              </a:rPr>
              <a:t>Architecture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7391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961A9-1897-16AB-6D51-69770BA12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>
            <a:extLst>
              <a:ext uri="{FF2B5EF4-FFF2-40B4-BE49-F238E27FC236}">
                <a16:creationId xmlns:a16="http://schemas.microsoft.com/office/drawing/2014/main" id="{F3157368-7FD6-A100-C18F-470C603DF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640" y="274680"/>
            <a:ext cx="1069704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1" dirty="0">
                <a:solidFill>
                  <a:srgbClr val="780373"/>
                </a:solidFill>
                <a:latin typeface="Times New Roman"/>
              </a:rPr>
              <a:t>6.Dataset</a:t>
            </a:r>
            <a:endParaRPr lang="en-IN" sz="36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1">
            <a:extLst>
              <a:ext uri="{FF2B5EF4-FFF2-40B4-BE49-F238E27FC236}">
                <a16:creationId xmlns:a16="http://schemas.microsoft.com/office/drawing/2014/main" id="{804D06B3-4DE8-56C6-F41A-A66954F91BF5}"/>
              </a:ext>
            </a:extLst>
          </p:cNvPr>
          <p:cNvSpPr/>
          <p:nvPr/>
        </p:nvSpPr>
        <p:spPr>
          <a:xfrm>
            <a:off x="115200" y="118440"/>
            <a:ext cx="11960640" cy="33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Batch No. C6       										</a:t>
            </a:r>
            <a:r>
              <a:rPr lang="en-US" sz="1600" b="1" dirty="0">
                <a:latin typeface="Times New Roman"/>
              </a:rPr>
              <a:t> 	DCTM</a:t>
            </a: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17F32C-31DD-BD2B-1B7F-C745784A47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118F6E7-F1DC-4F9F-A55D-F4F9EDAF9867}" type="slidenum">
              <a:rPr lang="en-US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8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47463B6-6182-5A86-BBC1-BC00B8959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16C43E-5C6B-E8F1-BC84-FF86CE4CB620}"/>
              </a:ext>
            </a:extLst>
          </p:cNvPr>
          <p:cNvSpPr txBox="1"/>
          <p:nvPr/>
        </p:nvSpPr>
        <p:spPr>
          <a:xfrm>
            <a:off x="942695" y="1839666"/>
            <a:ext cx="1030492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CICIDS2017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Canadian Institute for Cybersecurity (CIC), UNB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Size: ~2.83 million samples after data cleaning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Columns: 79 network traffic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categories: 14 types (DoS, DDoS,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PortScan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Bot, XSS, SQL Injection, etc.)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in: DEMGAN (base paper) — primary evaluation dataset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CICIDS2018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CIC &amp; Communications Security Establishment (CSE), UNB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Size: 2M+ samples (partial selection used for experiments)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Columns: 79 network traffic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categories: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DoSHulk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Bot,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SlowHTTPTest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Benign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in: DEMGAN (base paper) — generalization/universality testing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4357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AA2D7-0EC1-2043-0B7D-493E08079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>
            <a:extLst>
              <a:ext uri="{FF2B5EF4-FFF2-40B4-BE49-F238E27FC236}">
                <a16:creationId xmlns:a16="http://schemas.microsoft.com/office/drawing/2014/main" id="{D6F6279F-F26F-B59B-0891-0523503EF4B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1" dirty="0">
                <a:solidFill>
                  <a:srgbClr val="780373"/>
                </a:solidFill>
                <a:latin typeface="Times New Roman"/>
              </a:rPr>
              <a:t>7.References</a:t>
            </a:r>
            <a:endParaRPr lang="en-IN" sz="36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B0D8AC-B975-77B0-76F7-69CA5420A6A4}"/>
              </a:ext>
            </a:extLst>
          </p:cNvPr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118F6E7-F1DC-4F9F-A55D-F4F9EDAF9867}" type="slidenum">
              <a:rPr lang="en-US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9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PlaceHolder 1">
            <a:extLst>
              <a:ext uri="{FF2B5EF4-FFF2-40B4-BE49-F238E27FC236}">
                <a16:creationId xmlns:a16="http://schemas.microsoft.com/office/drawing/2014/main" id="{8A0B1B03-2A22-9A6D-2FEB-B3467A5200FE}"/>
              </a:ext>
            </a:extLst>
          </p:cNvPr>
          <p:cNvSpPr/>
          <p:nvPr/>
        </p:nvSpPr>
        <p:spPr>
          <a:xfrm>
            <a:off x="115200" y="118440"/>
            <a:ext cx="11960640" cy="33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Batch No. C6       										 	</a:t>
            </a:r>
            <a:r>
              <a:rPr lang="en-US" sz="1600" b="1" dirty="0">
                <a:latin typeface="Times New Roman"/>
              </a:rPr>
              <a:t>DCTM</a:t>
            </a: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D28AE65-4C0F-A377-202A-5E5D182BD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8F2BD0C5-43C4-1845-1E4B-D80582CB1186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431136" y="1887580"/>
            <a:ext cx="11149704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DEMGAN: A Machine Learning-Based Intrusion Detection System Evasion Scheme.2025.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(Base Paper)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Wasserstein GAN. 2017. </a:t>
            </a:r>
          </a:p>
          <a:p>
            <a:pPr marL="457200"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Identifying Relevant Features of CSE-CIC-IDS2018 Dataset for the Development of an Intrusion Detection System. 2023 .</a:t>
            </a:r>
          </a:p>
          <a:p>
            <a:pPr marL="457200" indent="-4572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SMOTE: Synthetic Minority Over-sampling Technique. 2002.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242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747000" y="365533"/>
            <a:ext cx="1069704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 dirty="0">
                <a:solidFill>
                  <a:srgbClr val="780373"/>
                </a:solidFill>
                <a:effectLst/>
                <a:uFillTx/>
                <a:latin typeface="Times New Roman"/>
              </a:rPr>
              <a:t>End of Presentation</a:t>
            </a:r>
            <a:endParaRPr lang="en-IN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648028" y="2927139"/>
            <a:ext cx="10697040" cy="132959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  <a:p>
            <a:pPr algn="ctr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to Questions &amp; Suggestions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PlaceHolder 8"/>
          <p:cNvSpPr/>
          <p:nvPr/>
        </p:nvSpPr>
        <p:spPr>
          <a:xfrm>
            <a:off x="115200" y="118440"/>
            <a:ext cx="11960640" cy="33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Batch No. C6    										       	</a:t>
            </a:r>
            <a:r>
              <a:rPr lang="en-US" sz="1600" dirty="0">
                <a:solidFill>
                  <a:schemeClr val="dk1"/>
                </a:solidFill>
                <a:latin typeface="Times New Roman"/>
              </a:rPr>
              <a:t>DTCM</a:t>
            </a:r>
            <a:endParaRPr lang="en-IN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18FC4D-3D9E-F2B1-949B-288BBE57A9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118F6E7-F1DC-4F9F-A55D-F4F9EDAF9867}" type="slidenum">
              <a:rPr lang="en-US" sz="1200" b="0" u="none" strike="noStrike" smtClean="0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10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5181</TotalTime>
  <Words>1263</Words>
  <Application>Microsoft Office PowerPoint</Application>
  <PresentationFormat>Widescreen</PresentationFormat>
  <Paragraphs>145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Arial</vt:lpstr>
      <vt:lpstr>Calibri</vt:lpstr>
      <vt:lpstr>Symbol</vt:lpstr>
      <vt:lpstr>Times New Roman</vt:lpstr>
      <vt:lpstr>Wingdings</vt:lpstr>
      <vt:lpstr>Office Theme</vt:lpstr>
      <vt:lpstr>KESHAV MEMORIAL ENGINEERING COLLEGE A unit of Keshav Memorial Technical Educational Society (KMTES)  (Approved by AICTE, New Delhi &amp; Affiliated to Osmania University, Hyderabad)</vt:lpstr>
      <vt:lpstr>Index</vt:lpstr>
      <vt:lpstr>1.Abstract</vt:lpstr>
      <vt:lpstr>2. Introduction</vt:lpstr>
      <vt:lpstr>3.Problem Statement</vt:lpstr>
      <vt:lpstr>4.Workflow</vt:lpstr>
      <vt:lpstr>5. Architecture</vt:lpstr>
      <vt:lpstr>6.Dataset</vt:lpstr>
      <vt:lpstr>7.References</vt:lpstr>
      <vt:lpstr>End of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Systems</dc:title>
  <dc:creator>KIRAN KUMAR EKKALURI</dc:creator>
  <cp:lastModifiedBy>Thrinadh Reddy</cp:lastModifiedBy>
  <cp:revision>493</cp:revision>
  <cp:lastPrinted>2025-06-21T04:19:31Z</cp:lastPrinted>
  <dcterms:created xsi:type="dcterms:W3CDTF">2006-08-16T00:00:00Z</dcterms:created>
  <dcterms:modified xsi:type="dcterms:W3CDTF">2026-05-01T04:15:30Z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7</vt:i4>
  </property>
</Properties>
</file>
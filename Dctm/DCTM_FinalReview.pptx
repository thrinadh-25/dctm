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KMEC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KESHAV MEMORIAL ENGINEERING COLLEGE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486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unit of Keshav Memorial Technical Educational Society (KMTES)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40312" cy="0"/>
          </a:xfrm>
          <a:prstGeom prst="line">
            <a:avLst/>
          </a:prstGeom>
          <a:noFill/>
          <a:ln w="31750">
            <a:solidFill>
              <a:srgbClr val="00A3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024128"/>
            <a:ext cx="1218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 (CSE – 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1481328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D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Project Final Review Presentation 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11091672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0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38528"/>
            <a:ext cx="1090879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DCTM: Diffusion-Based Cyber Threat Modelling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Improved Intrusion Detection Performance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493008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Kasturi Vishnu Vardhan</a:t>
            </a:r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 245523733160</a:t>
            </a:r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 </a:t>
            </a:r>
            <a:pPr algn="ctr" indent="0" marL="0">
              <a:buNone/>
            </a:pPr>
            <a:r>
              <a:rPr lang="en-US" sz="1700" b="1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Kukunuru Thrinadh Reddy</a:t>
            </a:r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 245523733163</a:t>
            </a:r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 </a:t>
            </a:r>
            <a:pPr algn="ctr" indent="0" marL="0">
              <a:buNone/>
            </a:pPr>
            <a:r>
              <a:rPr lang="en-US" sz="1700" b="1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Neha Sri Tirunagari</a:t>
            </a:r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 245523733187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Ms. Duddeda Aishwarya  (Asst. Professor, Dept. of CSE)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73168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D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Year: 2024–25   |   III Year CSE-C   |   Batch C6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0D1A40"/>
          </a:solidFill>
          <a:ln w="12700">
            <a:solidFill>
              <a:srgbClr val="0D1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53035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Abstract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Introduction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Problem Statement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Workflow &amp; Methodology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System Architecture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Dataset &amp; Preprocessing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Hybrid Feature Engineering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822960"/>
            <a:ext cx="53035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Diffusion Model Architecture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Results: Baseline IDS Performance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Results: Adversarial Evasion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Results: Adversarial Retraining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Comparison with DEMGAN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Conclusion &amp; Future Scope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References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9904" y="777240"/>
            <a:ext cx="0" cy="5394960"/>
          </a:xfrm>
          <a:prstGeom prst="line">
            <a:avLst/>
          </a:prstGeom>
          <a:noFill/>
          <a:ln w="19050">
            <a:solidFill>
              <a:srgbClr val="007B8A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31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learning-based Network Intrusion Detection Systems (IDS) remain highly vulnerable to adversarial traffic. The state-of-the-art framework DEMGAN employs multi-generator Wasserstein GANs to achieve a 97.42% evasion rate on CICIDS2017, but suffers three critical limitations: a restricted 10-feature set, GAN training instability leading to mode collapse, and severe class imbalance that omits rare attack types entirely.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11183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9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(Diffusion-Based Cyber Threat Modelling) addresses these gaps by replacing the GAN with a Transformer-based Tabular Diffusion Model (DDPM), expanding feature coverage to 20 via a hybrid Mutual Information + SHAP selection strategy, and incorporating SMOTE class balancing. Ten IDS classifiers are trained and evaluated on adversarial samples on CICIDS2017, with results reported across Evasion Rate, F1-Score, Precision, and Recall — extending the evaluation rigour beyond DEMGAN's single-metric reporting.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" y="52578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7B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Keywords: Adversarial Examples, Intrusion Detection System, Tabular Diffusion, Transformer Denoiser, SMOTE, Hybrid Feature Selection, Evasion Attack, CICIDS2017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3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networks face constant threats: DDoS, PortScan, SQL Injection, Brute Force, and Botnets.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ML-based IDS classifies network flows as Benign (0) or Malicious (1) using statistical features.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examples are crafted inputs designed to fool classifiers into wrong predictions — evasion attacks make malicious traffic appear benign.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DEMGAN (Xu et al., CMC 2025) is the state-of-the-art adversarial generator, achieving 97.42% average evasion rate on CICIDS2017 using Wasserstein GANs.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improves on DEMGAN using Diffusion Models — inherently stable, mode-collapse-free, and extensible to all attack classes including rare ones.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pillars: Diffusion-based generation (P1) · SMOTE class balancing (P2) · Hybrid MI+SHAP features (P3) · Extended metrics ER+F1+Precision+Recall (P4).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Literature Survey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77240"/>
            <a:ext cx="5266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DEMGAN (Base Paper)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" y="1234440"/>
            <a:ext cx="5266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 et al., CMC 2025. Multi-generator Wasserstein GAN for IDS evasion. 97.42% ER on CICIDS2017. Limitation: 10 features, GAN instability, no retraining evaluation.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77724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777240"/>
            <a:ext cx="5486400" cy="41148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777240"/>
            <a:ext cx="5266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Wasserstein GAN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1234440"/>
            <a:ext cx="5266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Arjovsky et al., 2017. Improved GAN training stability via Earth Mover Distance loss. Reduces mode collapse vs. vanilla GAN.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83280"/>
            <a:ext cx="5486400" cy="41148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5266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" y="3840480"/>
            <a:ext cx="5266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Chawla et al., JAIR 2002. Synthetic Minority Over-sampling Technique for class imbalance. Critical for rare attack classes (Heartbleed: 11 samples).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09360" y="338328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B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383280"/>
            <a:ext cx="5486400" cy="41148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383280"/>
            <a:ext cx="5266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Feature Selection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3840480"/>
            <a:ext cx="5266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Lundberg &amp; Lee, NeurIPS 2017. Shapley-based feature attribution via LightGBM proxy. Captures nonlinear feature importance missed by MI alone.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11548872" cy="539496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3931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DEMGAN Limitation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Impact on IDS Evaluation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DCTM Solution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 training instability &amp; mode collapse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Low-diversity adversarial samples; fails on DT (ER 61.15%), LR (ER 48.94%)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Diffusion model — stable MSE loss, no discriminator (P1)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Only 10 MI-ranked features used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69+ informative features ignored; attacks lack realism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Hybrid MI + SHAP → top 20 features (P3)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 imbalance ignored in training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Rare classes (Heartbleed: 11, SQL Inj.: 21) omitted entirely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SMOTE balancing — cap 50k/class (P2)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Evasion Rate only — no F1/Prec/Recall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Cannot compare with broader IDS literature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 + F1 + Precision + Recall reported (P4)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Workflow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311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— Preprocess: Merge 8 daily CSVs, remove NaN/Inf, binary label mapping (0=Benign, 1=Attack), 80/20 stratified train-test split.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 — Feature Selection: MI scoring on 100k subsample; SHAP via LightGBM proxy on 50k subsample; hybrid score = 0.5×MI + 0.5×SHAP → top 20 features.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 — IDS Training: SMOTE balances train split (cap 50k/class); 10 models trained on DCTM 20-feature set — 20 checkpoints total (.pkl / .pt).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4 — Diffusion Training: TransformerDenoiser trained per attack class on DCTM features; linear β-schedule, T=1000 timesteps, MSE noise-prediction loss.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5 — Adversarial Generation: Partial forward diffusion to t_mid=500; full reverse denoising to t=0; immutable features clamped after every reverse step.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6 — Evaluate &amp; Retrain: Measure ER, F1, Precision, Recall; augment train set with adversarial samples; retrain all 10 IDS; re-evaluate robustness.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804672"/>
            <a:ext cx="10360152" cy="658368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04672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CICIDS2017 CSVs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(8 daily files · ~2.83M samples · 79 features)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4476" y="1463040"/>
            <a:ext cx="0" cy="82296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545336"/>
            <a:ext cx="103601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45336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Data Preprocessing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CSVs · Remove NaN/Inf · Binary labels · 80/20 split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4476" y="2203704"/>
            <a:ext cx="0" cy="82296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286000"/>
            <a:ext cx="10360152" cy="6583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86000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Hybrid Feature Selection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(100k) + SHAP via LightGBM (50k) → Top 20 features · SMOTE balancing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4476" y="2944368"/>
            <a:ext cx="0" cy="82296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026664"/>
            <a:ext cx="103601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26664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IDS Model Training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Classical (DT, NB, LR, RF, XGB, SVM) + 4 Deep Learning (MLP, CNN, RNN, CNN-BiLSTM)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4476" y="3685032"/>
            <a:ext cx="0" cy="82296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767328"/>
            <a:ext cx="10360152" cy="658368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67328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Diffusion Model (per attack class)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TransformerDenoiser · 4× EncoderLayer · T=1000 · MSE loss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476" y="4425696"/>
            <a:ext cx="0" cy="82296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507992"/>
            <a:ext cx="103601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507992"/>
            <a:ext cx="10177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Adversarial Generation &amp; Evaluation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Partial fwd (t=500) → Reverse denoise → Clamp immutables → ER/F1/Precision/Recall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Dataset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394960" cy="38404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7772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CICIDS2017  (Primary Dataset)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" y="1216152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Source: Canadian Institute for Cybersecurity (UNB)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Size: ~2.83 million flows after cleaning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Features: 79 network traffic statistics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Attack types: 14 categories (DoS, DDoS, PortScan, Bot, XSS, SQL Injection, Brute Force, etc.)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Train / Test split: 80% / 20% stratified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Class imbalance: Heartbleed (11 samples), SQL Inj. (21) — addressed by SMOTE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Role: Primary training + adversarial evaluation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73952" y="77724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777240"/>
            <a:ext cx="5394960" cy="384048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7772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CICIDS2018  (External Validation)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65392" y="1216152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Source: Same (CIC, UNB) — more recent capture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Size: ~2.4 million flows after cleaning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Used for: Cross-dataset transferability test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Preprocessing: Immutable features for CICIDS2018 — Dst Port, PSH Flag Cnt, ACK Flag Cnt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Purpose: Evaluate whether 2017-trained IDS can be attacked by 2018 adversarial samples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Not used for diffusion or IDS training — external test only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760720" y="777240"/>
            <a:ext cx="0" cy="5394960"/>
          </a:xfrm>
          <a:prstGeom prst="line">
            <a:avLst/>
          </a:prstGeom>
          <a:noFill/>
          <a:ln w="12700">
            <a:solidFill>
              <a:srgbClr val="CCDDEE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Hybrid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3383280" cy="36576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04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Mutual Information (MI)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Subsample: top 100k rows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Measures feature-label dependence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Captures linear relationships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Top-10 → Baseline feature set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03320" y="2176272"/>
            <a:ext cx="64008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307592"/>
            <a:ext cx="777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norm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norm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0832" y="2176272"/>
            <a:ext cx="64008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804672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804672"/>
            <a:ext cx="338328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804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via LightGBM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121615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Subsample: top 50k rows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LightGBM proxy model trained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TreeExplainer → feature scores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Captures nonlinear importance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76488" y="804672"/>
            <a:ext cx="3383280" cy="274320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941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Feature 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67928" y="1399032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20 hybrid-ranked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features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DEMGAN: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features (MI only)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4320" y="3657600"/>
            <a:ext cx="11640312" cy="384048"/>
          </a:xfrm>
          <a:prstGeom prst="rect">
            <a:avLst/>
          </a:prstGeom>
          <a:solidFill>
            <a:srgbClr val="E8F4FD"/>
          </a:solidFill>
          <a:ln>
            <a:solidFill>
              <a:srgbClr val="007B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Immutable Features (cannot be altered by attacker): CICIDS2017 — Destination Port · URG Flag Count · CWE Flag Count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4133088"/>
            <a:ext cx="11640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selection reduces 79 raw features → 20 high-impact features; SMOTE caps imbalanced classes at 50,000 samples/class before IDS training.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Diffusion 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6858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A6C"/>
                </a:solidFill>
              </a:rPr>
              <a:t>TransformerDenoiser Architecture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Input: noisy sample x_t (dim=20) + timestep t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Timestep embedding: sinusoidal (128D) → SiLU → linear → 256D projection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Backbone: 4 × TransformerEncoderLayer (nhead=4, dim_ff=512, dropout=0.1)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Output: predicted noise ε̂ (same dim as input)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Loss: MSE(ε, ε̂) — stable, no discriminator required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2A6C"/>
                </a:solidFill>
              </a:rPr>
              <a:t>Noise Schedule &amp; Sampling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Linear β-schedule: β₁=0.0001 → β_T=0.02, T=1000 timesteps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Adversarial generation: partial forward to t_mid=500, then reverse denoise to t=0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One model trained per attack class (not class-conditioned — simpler to defend)
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Immutable features clamped to original values after each reverse step
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06640" y="804672"/>
            <a:ext cx="4480560" cy="539496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896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DDPM 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1371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Process  q(x_t | x_{t-1})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1719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x₀ →[+ε]→ x₁ → ... → x₅₀₀ → ... → x₁₀₀₀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2039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Attack     Gradually Adding Noise      Pure Noise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2404872"/>
            <a:ext cx="41148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54380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t_mid = 500  ← Adversarial generation starts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2816352"/>
            <a:ext cx="41148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543800" y="2907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Reverse Process  p_θ(x_{t-1} | x_t)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x₁₀₀₀ → Denoiser → ... → x₅₀₀ → ... → x₀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3621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Noise   TransformerDenoiser   Adversarial Sample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40050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[Immutable features clamped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every reverse step]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45994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No mode collapse   ✓ Stable training   ✓ All attack classes covered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Results: Baseline IDS Performance (Clean Data)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11731752" cy="54406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103120"/>
                <a:gridCol w="1645920"/>
                <a:gridCol w="1645920"/>
                <a:gridCol w="1965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(%)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Tree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99.21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Naive Bayes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92.34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96.78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B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99.44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B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99.38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98.12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98.67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98.89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98.43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CNN-BiLSTM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7B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99.01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Results: Adversarial Evasion Attack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3657600" cy="100584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84.7%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Avg. Evasion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across all 10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749808"/>
            <a:ext cx="3657600" cy="100584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97.42%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5196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DEMGAN Baseline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 in Xu et al. 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749808"/>
            <a:ext cx="3657600" cy="100584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18388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ER (RF)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— hardest to fool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74520"/>
          <a:ext cx="7772400" cy="42976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920240"/>
                <a:gridCol w="1554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Evasion Rate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Adv. Accuracy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Adv. F1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79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Tree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55.4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0.492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Naive Bayes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0.389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0.533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9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0.391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9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47.9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0.408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0.471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0.401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46.6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0.413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0.427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CNN-BiLSTM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9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0.399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D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138160" y="1874520"/>
            <a:ext cx="3749040" cy="4297680"/>
          </a:xfrm>
          <a:prstGeom prst="rect">
            <a:avLst/>
          </a:prstGeom>
          <a:solidFill>
            <a:srgbClr val="0D1A40"/>
          </a:solidFill>
          <a:ln w="12700">
            <a:solidFill>
              <a:srgbClr val="0D1A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83880" y="1938528"/>
            <a:ext cx="3657600" cy="41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[Insert Chart Here]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evasion_comparison.png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Drive: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DCTM/visualization/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Horizontal bar chart of ER per model vs DEMGAN 97.42% baseline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Results: Adversarial Retraining (Defense)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36576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Evasion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Retraining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 from 95.2%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749808"/>
            <a:ext cx="36576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5196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Retraining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 from 93.8%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749808"/>
            <a:ext cx="3657600" cy="100584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7498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183880" y="1261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CNN-BiLSTM 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Retraining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 from 94.1%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74520"/>
          <a:ext cx="7772400" cy="429768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2011680"/>
                <a:gridCol w="21945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 Before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 After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Adv. Acc. After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 Acc. After (%)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Tree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98.87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Naive Bayes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91.76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96.22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7B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7B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95.52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99.44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99.21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97.88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7.3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98.34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98.57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98.21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CNN-BiLSTM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94.7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98.88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138160" y="1874520"/>
            <a:ext cx="3749040" cy="4297680"/>
          </a:xfrm>
          <a:prstGeom prst="rect">
            <a:avLst/>
          </a:prstGeom>
          <a:solidFill>
            <a:srgbClr val="0D1A40"/>
          </a:solidFill>
          <a:ln w="12700">
            <a:solidFill>
              <a:srgbClr val="0D1A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83880" y="1938528"/>
            <a:ext cx="3657600" cy="41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[Insert Chart Here]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retraining_improvement.png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Drive: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DCTM/visualization/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Grouped bar chart: Before vs After retraining ER for all 10 models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Comparison with DEMGAN (Xu et al., 2025)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11731752" cy="544068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DEMGAN (Base Paper)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DCTM (Our Work)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Generator type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Wasserstein GAN (multi-generator)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Transformer Denoiser (DDPM)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 features (MI ranking only)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 features (MI + SHAP hybrid)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 imbalance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addressed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SMOTE — 50k samples/class cap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IDS models evaluated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 models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 models (DT, NB, LR, RF, XGB, SVM, MLP, CNN, RNN, CNN-BiLSTM)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Evasion 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97.42% (average)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95.2% RF, 94.1% CNN-BiLSTM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Metrics reported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Evasion Rate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 + F1 + Precision + Recall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Adversarial retraining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evaluated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10 models; RF: 0.0% ER post-retrain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Training stability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 collapse on rare classes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Stable MSE loss — all classes covered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CICIDS2017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CICIDS2017 (primary) + CICIDS2018 (external)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successfully replaces DEMGAN's GAN with a stable Transformer-based Diffusion Model — eliminating mode collapse and training instability.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MI + SHAP feature selection expands coverage from 10 → 20 features, improving adversarial sample realism.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SMOTE class balancing enables effective adversarial generation for rare attack classes (e.g. Heartbleed, SQL Injection) that DEMGAN ignores.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retraining dramatically reduces Evasion Rate: Random Forest drops from 95.2% → 0.0% while retaining 99.44% clean accuracy.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Extended metrics (ER + F1 + Precision + Recall) improve reproducibility and comparability with the broader IDS literature.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777240"/>
            <a:ext cx="0" cy="5394960"/>
          </a:xfrm>
          <a:prstGeom prst="line">
            <a:avLst/>
          </a:prstGeom>
          <a:noFill/>
          <a:ln w="19050">
            <a:solidFill>
              <a:srgbClr val="007B8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09360" y="7772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B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Classifier-guided reverse diffusion — inject IDS gradient into each reverse step (PGD-style) for targeted evasion.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diffusion — single class-embedded model vs. one-per-class, reducing storage from N × models to 1.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DDIM sampling at inference — reduce generation time from T=1000 → 50 steps with comparable sample quality.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Borda-count feature ranking — extend to MI + SHAP + permutation importance tri-source hybrid.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evasion — study attack-class → other-attack misclassification beyond simple benign evasion.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731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Xu, Z., et al. "DEMGAN: A Machine Learning-Based Intrusion Detection System Evasion Scheme." Computers, Materials &amp; Continua (CMC), 2025. [Base Paper]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Arjovsky, M., et al. "Wasserstein Generative Adversarial Networks." ICML, 2017.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12264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Ho, J., et al. "Denoising Diffusion Probabilistic Models (DDPM)." NeurIPS, 2020.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Vaswani, A., et al. "Attention Is All You Need." NeurIPS, 2017.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447288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Lundberg, S. M. &amp; Lee, S. I. "A Unified Approach to Interpreting Model Predictions (SHAP)." NeurIPS, 2017.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Chawla, N. V., et al. "SMOTE: Synthetic Minority Over-sampling Technique." JAIR, 2002.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782312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Sharafaldin, I., et al. "Toward Generating a New Intrusion Detection Dataset and Intrusion Traffic Characterization (CICIDS2017)." ICISSP, 2018.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5449824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Ke, G., et al. "LightGBM: A Highly Efficient Gradient Boosting Decision Tree." NeurIPS, 2017.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194560"/>
            <a:ext cx="9445752" cy="0"/>
          </a:xfrm>
          <a:prstGeom prst="line">
            <a:avLst/>
          </a:prstGeom>
          <a:noFill/>
          <a:ln w="38100">
            <a:solidFill>
              <a:srgbClr val="00A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371600" y="3749040"/>
            <a:ext cx="9445752" cy="0"/>
          </a:xfrm>
          <a:prstGeom prst="line">
            <a:avLst/>
          </a:prstGeom>
          <a:noFill/>
          <a:ln w="38100">
            <a:solidFill>
              <a:srgbClr val="00A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88620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AD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to Questions &amp; Suggestions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Kasturi Vishnu Vardhan  ·  Kukunuru Thrinadh Reddy  ·  Neha Sri Tirunagari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Ms. Duddeda Aishwarya   |   Dept. of CSE   |   KMEC   |   Batch C6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solidFill>
            <a:srgbClr val="0D1A40"/>
          </a:solidFill>
          <a:ln w="12700">
            <a:solidFill>
              <a:srgbClr val="0D1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No. C6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6492240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DCTM — Diffusion-Based Cyber Threat Modelling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DCTM: Diffusion-Based Cyber Threat Modelling — Final Review</dc:title>
  <dc:subject>PptxGenJS Presentation</dc:subject>
  <dc:creator>CSE-C Batch C6</dc:creator>
  <cp:lastModifiedBy>CSE-C Batch C6</cp:lastModifiedBy>
  <cp:revision>1</cp:revision>
  <dcterms:created xsi:type="dcterms:W3CDTF">2026-06-14T13:11:11Z</dcterms:created>
  <dcterms:modified xsi:type="dcterms:W3CDTF">2026-06-14T13:11:11Z</dcterms:modified>
</cp:coreProperties>
</file>